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4811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cg_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502920"/>
            <a:ext cx="6035040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IntelliWave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21208" y="10058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C9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ECG Monitoring with Explainable AI for Early Detection of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C9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Anomalies in High-Risk Patients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1208" y="1920240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FF6B5B">
              <a:alpha val="15000"/>
            </a:srgbClr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1208" y="192024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847088" y="1883664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clinics lack ECG access; short clinical snapshots miss intermittent arrhythmias, delaying life-saving care.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21208" y="2615184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5CE8C5">
              <a:alpha val="15000"/>
            </a:srgbClr>
          </a:solidFill>
          <a:ln w="12700">
            <a:solidFill>
              <a:srgbClr val="5CE8C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1208" y="261518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5CE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47088" y="257860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3-lead wearable that logs continuous cardiac data and flags anomalies in real time via an on-device, explainable AI classifier.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1208" y="3310128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F9E795">
              <a:alpha val="15000"/>
            </a:srgbClr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" y="331012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847088" y="3273552"/>
            <a:ext cx="4032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continuous, non-invasive cardiac care by turning raw biopotential data into immediate, actionable clinical insights right at the edge.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21208" y="4224528"/>
            <a:ext cx="1188720" cy="896112"/>
          </a:xfrm>
          <a:prstGeom prst="roundRect">
            <a:avLst>
              <a:gd name="adj" fmla="val 8163"/>
            </a:avLst>
          </a:prstGeom>
          <a:solidFill>
            <a:srgbClr val="0F3A52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" y="43159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CE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3-Lead Wearable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2648" y="46817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AD8232 AFE </a:t>
            </a:r>
            <a:r>
              <a:rPr lang="en-US" sz="950">
                <a:solidFill>
                  <a:srgbClr val="C9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200 </a:t>
            </a:r>
            <a:r>
              <a:rPr lang="en-US" sz="950" dirty="0">
                <a:solidFill>
                  <a:srgbClr val="C9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856232" y="4224528"/>
            <a:ext cx="1188720" cy="896112"/>
          </a:xfrm>
          <a:prstGeom prst="roundRect">
            <a:avLst>
              <a:gd name="adj" fmla="val 8163"/>
            </a:avLst>
          </a:prstGeom>
          <a:solidFill>
            <a:srgbClr val="0F3A52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947672" y="43159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CE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Triage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947672" y="46817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1D-ResNet · Macro F1 0.61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191256" y="4224528"/>
            <a:ext cx="1188720" cy="896112"/>
          </a:xfrm>
          <a:prstGeom prst="roundRect">
            <a:avLst>
              <a:gd name="adj" fmla="val 8163"/>
            </a:avLst>
          </a:prstGeom>
          <a:solidFill>
            <a:srgbClr val="0F3A52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282696" y="43159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CE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Telemetry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282696" y="46817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Hz · HM-10 module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26280" y="4224528"/>
            <a:ext cx="1188720" cy="896112"/>
          </a:xfrm>
          <a:prstGeom prst="roundRect">
            <a:avLst>
              <a:gd name="adj" fmla="val 8163"/>
            </a:avLst>
          </a:prstGeom>
          <a:solidFill>
            <a:srgbClr val="0F3A52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617720" y="43159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CE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70.5 h Battery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617720" y="46817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mAh Li-Po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989320" y="27889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2405C"/>
          </a:solidFill>
          <a:ln w="12700">
            <a:solidFill>
              <a:srgbClr val="1C5A7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99048" y="2916936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5CE8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30%+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6099048" y="3520440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premature deaths in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 linked to CVD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074152" y="27889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2405C"/>
          </a:solidFill>
          <a:ln w="12700">
            <a:solidFill>
              <a:srgbClr val="1C5A7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83880" y="2916936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5CE8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183880" y="3520440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recall on the reduced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3-lead test set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0158984" y="27889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2405C"/>
          </a:solidFill>
          <a:ln w="12700">
            <a:solidFill>
              <a:srgbClr val="1C5A7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268712" y="2916936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5CE8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</a:t>
            </a:r>
            <a:endParaRPr lang="en-US" sz="2600" dirty="0"/>
          </a:p>
        </p:txBody>
      </p:sp>
      <p:sp>
        <p:nvSpPr>
          <p:cNvPr id="34" name="Text 31"/>
          <p:cNvSpPr/>
          <p:nvPr/>
        </p:nvSpPr>
        <p:spPr>
          <a:xfrm>
            <a:off x="10268712" y="3520440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LKR target retail price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(&gt;80% gross margin)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989320" y="43159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60601-1 / 60601-2-47  ·  ANSI/AAMI EC38  ·  IEC 60601-1-2 EMC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989320" y="4645152"/>
            <a:ext cx="6035040" cy="0"/>
          </a:xfrm>
          <a:prstGeom prst="line">
            <a:avLst/>
          </a:prstGeom>
          <a:noFill/>
          <a:ln w="12700">
            <a:solidFill>
              <a:srgbClr val="1C5A78"/>
            </a:solidFill>
            <a:prstDash val="dash"/>
          </a:ln>
        </p:spPr>
      </p:sp>
      <p:sp>
        <p:nvSpPr>
          <p:cNvPr id="37" name="Text 34"/>
          <p:cNvSpPr/>
          <p:nvPr/>
        </p:nvSpPr>
        <p:spPr>
          <a:xfrm>
            <a:off x="5989320" y="475488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Front-End (AD8232) → STM32F103C8T6 MCU → HM-10 BLE → Mobile/Web App → Multi-Level AI Classification → Real-Time Anomaly Alert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9525">
            <a:solidFill>
              <a:srgbClr val="1C5A7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02920" y="64190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EN2160 Electronic Design Realization  ·  Department of Electronic &amp; Telecommunication Engineering, University of Moratuwa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412480" y="6419088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9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Dinusha · </a:t>
            </a:r>
            <a:r>
              <a:rPr lang="en-US" sz="950" dirty="0" err="1">
                <a:solidFill>
                  <a:srgbClr val="C9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Dulith</a:t>
            </a:r>
            <a:r>
              <a:rPr lang="en-US" sz="950" dirty="0">
                <a:solidFill>
                  <a:srgbClr val="C9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Deshan · Dhananjaya · Senuda</a:t>
            </a:r>
            <a:endParaRPr lang="en-US" sz="95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DFCCB2-7EED-F40B-C363-58A7F4C30482}"/>
              </a:ext>
            </a:extLst>
          </p:cNvPr>
          <p:cNvSpPr txBox="1"/>
          <p:nvPr/>
        </p:nvSpPr>
        <p:spPr>
          <a:xfrm>
            <a:off x="724429" y="5413248"/>
            <a:ext cx="10310326" cy="1006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2000"/>
              </a:lnSpc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Innovation:</a:t>
            </a:r>
            <a:r>
              <a:rPr lang="en-US" dirty="0">
                <a:solidFill>
                  <a:srgbClr val="FFFFFF"/>
                </a:solidFill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 We are democratizing cardiac care with a novel, low-cost, clinical-grade ECG signal that embeds machine learning directly on the device for real-time, continuous anomaly detection.</a:t>
            </a:r>
          </a:p>
          <a:p>
            <a:pPr>
              <a:lnSpc>
                <a:spcPct val="112000"/>
              </a:lnSpc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233</Words>
  <Application>Microsoft Office PowerPoint</Application>
  <PresentationFormat>Widescreen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CMU Bright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Senuda Ratnayake</cp:lastModifiedBy>
  <cp:revision>6</cp:revision>
  <dcterms:created xsi:type="dcterms:W3CDTF">2026-07-20T04:27:09Z</dcterms:created>
  <dcterms:modified xsi:type="dcterms:W3CDTF">2026-07-20T08:19:33Z</dcterms:modified>
</cp:coreProperties>
</file>