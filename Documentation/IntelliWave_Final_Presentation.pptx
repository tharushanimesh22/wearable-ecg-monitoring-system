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lice Bold" panose="020B0604020202020204" charset="0"/>
      <p:regular r:id="rId22"/>
    </p:embeddedFont>
    <p:embeddedFont>
      <p:font typeface="Body Text" panose="020B0604020202020204" charset="0"/>
      <p:regular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DM Sans" pitchFamily="2" charset="0"/>
      <p:regular r:id="rId26"/>
    </p:embeddedFont>
    <p:embeddedFont>
      <p:font typeface="ITC Motter Corpus Condensed" panose="020B0604020202020204" charset="0"/>
      <p:regular r:id="rId27"/>
    </p:embeddedFont>
    <p:embeddedFont>
      <p:font typeface="Montserrat" panose="00000500000000000000" pitchFamily="2" charset="0"/>
      <p:regular r:id="rId28"/>
    </p:embeddedFont>
    <p:embeddedFont>
      <p:font typeface="Telegraf Ultra-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73200" y="8031016"/>
            <a:ext cx="3086100" cy="976775"/>
            <a:chOff x="0" y="0"/>
            <a:chExt cx="812800" cy="2572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57258"/>
            </a:xfrm>
            <a:custGeom>
              <a:avLst/>
              <a:gdLst/>
              <a:ahLst/>
              <a:cxnLst/>
              <a:rect l="l" t="t" r="r" b="b"/>
              <a:pathLst>
                <a:path w="812800" h="257258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9317"/>
                  </a:lnTo>
                  <a:cubicBezTo>
                    <a:pt x="812800" y="163249"/>
                    <a:pt x="799321" y="195791"/>
                    <a:pt x="775327" y="219785"/>
                  </a:cubicBezTo>
                  <a:cubicBezTo>
                    <a:pt x="751333" y="243778"/>
                    <a:pt x="718791" y="257258"/>
                    <a:pt x="684859" y="257258"/>
                  </a:cubicBezTo>
                  <a:lnTo>
                    <a:pt x="127941" y="257258"/>
                  </a:lnTo>
                  <a:cubicBezTo>
                    <a:pt x="94009" y="257258"/>
                    <a:pt x="61467" y="243778"/>
                    <a:pt x="37473" y="219785"/>
                  </a:cubicBezTo>
                  <a:cubicBezTo>
                    <a:pt x="13479" y="195791"/>
                    <a:pt x="0" y="163249"/>
                    <a:pt x="0" y="12931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295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5479" y="-987037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0" y="0"/>
                </a:moveTo>
                <a:lnTo>
                  <a:pt x="8869909" y="0"/>
                </a:lnTo>
                <a:lnTo>
                  <a:pt x="8869909" y="10401813"/>
                </a:lnTo>
                <a:lnTo>
                  <a:pt x="0" y="10401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75501" y="8243134"/>
            <a:ext cx="1204364" cy="569336"/>
          </a:xfrm>
          <a:custGeom>
            <a:avLst/>
            <a:gdLst/>
            <a:ahLst/>
            <a:cxnLst/>
            <a:rect l="l" t="t" r="r" b="b"/>
            <a:pathLst>
              <a:path w="1204364" h="569336">
                <a:moveTo>
                  <a:pt x="0" y="0"/>
                </a:moveTo>
                <a:lnTo>
                  <a:pt x="1204365" y="0"/>
                </a:lnTo>
                <a:lnTo>
                  <a:pt x="1204365" y="569336"/>
                </a:lnTo>
                <a:lnTo>
                  <a:pt x="0" y="569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07250" y="143579"/>
            <a:ext cx="4514493" cy="1213011"/>
          </a:xfrm>
          <a:custGeom>
            <a:avLst/>
            <a:gdLst/>
            <a:ahLst/>
            <a:cxnLst/>
            <a:rect l="l" t="t" r="r" b="b"/>
            <a:pathLst>
              <a:path w="4514493" h="1213011">
                <a:moveTo>
                  <a:pt x="0" y="0"/>
                </a:moveTo>
                <a:lnTo>
                  <a:pt x="4514493" y="0"/>
                </a:lnTo>
                <a:lnTo>
                  <a:pt x="4514493" y="1213010"/>
                </a:lnTo>
                <a:lnTo>
                  <a:pt x="0" y="121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361" t="-212094" r="-137268" b="-198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65479" y="1099474"/>
            <a:ext cx="11689991" cy="453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29"/>
              </a:lnSpc>
            </a:pPr>
            <a:r>
              <a:rPr lang="en-US" sz="12315" b="1" spc="-628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Wearable ECG Monitoring Device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737" y="6162031"/>
            <a:ext cx="4935063" cy="757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  <a:spcBef>
                <a:spcPct val="0"/>
              </a:spcBef>
            </a:pPr>
            <a:r>
              <a:rPr lang="en-US" sz="4468" b="1" spc="-227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Group Members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478" y="7073527"/>
            <a:ext cx="4792321" cy="2786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51" b="1" spc="-160" dirty="0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Dinusha Dissanayaka</a:t>
            </a: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51" b="1" spc="-160" dirty="0" err="1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Dulith</a:t>
            </a:r>
            <a:r>
              <a:rPr lang="en-US" sz="3151" b="1" spc="-160" dirty="0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</a:t>
            </a:r>
            <a:r>
              <a:rPr lang="en-US" sz="3151" b="1" spc="-160" dirty="0" err="1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Kavinda</a:t>
            </a:r>
            <a:endParaRPr lang="en-US" sz="3151" b="1" spc="-160" dirty="0">
              <a:solidFill>
                <a:srgbClr val="000000">
                  <a:alpha val="63922"/>
                </a:srgbClr>
              </a:solidFill>
              <a:latin typeface="Telegraf Ultra-Bold"/>
              <a:ea typeface="Telegraf Ultra-Bold"/>
              <a:cs typeface="Telegraf Ultra-Bold"/>
              <a:sym typeface="Telegraf Ultra-Bold"/>
            </a:endParaRP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51" b="1" spc="-160" dirty="0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Udara Deshan</a:t>
            </a: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51" b="1" spc="-160" dirty="0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Tharusha Nimesh</a:t>
            </a: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51" b="1" spc="-160" dirty="0" err="1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Senuda</a:t>
            </a:r>
            <a:r>
              <a:rPr lang="en-US" sz="3151" b="1" spc="-160" dirty="0">
                <a:solidFill>
                  <a:srgbClr val="000000">
                    <a:alpha val="63922"/>
                  </a:srgbClr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Ratnayake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662" y="5486827"/>
            <a:ext cx="4935063" cy="818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92"/>
              </a:lnSpc>
              <a:spcBef>
                <a:spcPct val="0"/>
              </a:spcBef>
            </a:pPr>
            <a:r>
              <a:rPr lang="en-US" sz="4851" b="1" spc="-247" dirty="0">
                <a:solidFill>
                  <a:srgbClr val="FEFEFE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Team </a:t>
            </a:r>
            <a:r>
              <a:rPr lang="en-US" sz="4851" b="1" spc="-247" dirty="0" err="1">
                <a:solidFill>
                  <a:srgbClr val="FEFEFE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Intelliave</a:t>
            </a:r>
            <a:endParaRPr lang="en-US" sz="4851" b="1" spc="-247" dirty="0">
              <a:solidFill>
                <a:srgbClr val="FEFEFE"/>
              </a:solidFill>
              <a:latin typeface="Telegraf Ultra-Bold"/>
              <a:ea typeface="Telegraf Ultra-Bold"/>
              <a:cs typeface="Telegraf Ultra-Bold"/>
              <a:sym typeface="Telegraf Ultra-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220624" y="625905"/>
            <a:ext cx="9929114" cy="8075564"/>
          </a:xfrm>
          <a:custGeom>
            <a:avLst/>
            <a:gdLst/>
            <a:ahLst/>
            <a:cxnLst/>
            <a:rect l="l" t="t" r="r" b="b"/>
            <a:pathLst>
              <a:path w="9929114" h="8075564">
                <a:moveTo>
                  <a:pt x="0" y="0"/>
                </a:moveTo>
                <a:lnTo>
                  <a:pt x="9929114" y="0"/>
                </a:lnTo>
                <a:lnTo>
                  <a:pt x="9929114" y="8075563"/>
                </a:lnTo>
                <a:lnTo>
                  <a:pt x="0" y="8075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796" y="526442"/>
            <a:ext cx="16024169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7500" b="1" spc="-382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Problem Statement &amp; Motivation</a:t>
            </a:r>
          </a:p>
          <a:p>
            <a:pPr algn="l">
              <a:lnSpc>
                <a:spcPts val="6900"/>
              </a:lnSpc>
            </a:pPr>
            <a:endParaRPr lang="en-US" sz="7500" b="1" spc="-382">
              <a:solidFill>
                <a:srgbClr val="000000"/>
              </a:solidFill>
              <a:latin typeface="Telegraf Ultra-Bold"/>
              <a:ea typeface="Telegraf Ultra-Bold"/>
              <a:cs typeface="Telegraf Ultra-Bold"/>
              <a:sym typeface="Telegraf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8796" y="1730929"/>
            <a:ext cx="17471038" cy="710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</a:pPr>
            <a:endParaRPr dirty="0"/>
          </a:p>
          <a:p>
            <a:pPr marL="809283" lvl="1" indent="-404642" algn="l">
              <a:lnSpc>
                <a:spcPts val="5135"/>
              </a:lnSpc>
              <a:buFont typeface="Arial"/>
              <a:buChar char="•"/>
            </a:pPr>
            <a:r>
              <a:rPr lang="en-US" sz="3748" spc="-191" dirty="0">
                <a:solidFill>
                  <a:srgbClr val="000000">
                    <a:alpha val="8078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Limited Monitoring Duration: Standard ECG systems record only 5–10 second snapshots, making it difficult to detect intermittent arrhythmias or long-term cardiac changes.</a:t>
            </a:r>
          </a:p>
          <a:p>
            <a:pPr marL="809283" lvl="1" indent="-404642" algn="l">
              <a:lnSpc>
                <a:spcPts val="5135"/>
              </a:lnSpc>
              <a:buFont typeface="Arial"/>
              <a:buChar char="•"/>
            </a:pPr>
            <a:r>
              <a:rPr lang="en-US" sz="3748" spc="-191" dirty="0">
                <a:solidFill>
                  <a:srgbClr val="000000">
                    <a:alpha val="8078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Risk of Misdiagnosis: Atypical cardiac symptoms can be mistaken for less serious conditions, delaying timely treatment.</a:t>
            </a:r>
          </a:p>
          <a:p>
            <a:pPr marL="809283" lvl="1" indent="-404642" algn="l">
              <a:lnSpc>
                <a:spcPts val="5135"/>
              </a:lnSpc>
              <a:buFont typeface="Arial"/>
              <a:buChar char="•"/>
            </a:pPr>
            <a:r>
              <a:rPr lang="en-US" sz="3748" spc="-191" dirty="0">
                <a:solidFill>
                  <a:srgbClr val="000000">
                    <a:alpha val="8078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High Clinician Workload: Manual ECG interpretation in busy emergency units increases workload, diagnosis time, and the risk of human error.</a:t>
            </a:r>
          </a:p>
          <a:p>
            <a:pPr marL="809283" lvl="1" indent="-404642" algn="l">
              <a:lnSpc>
                <a:spcPts val="5135"/>
              </a:lnSpc>
              <a:buFont typeface="Arial"/>
              <a:buChar char="•"/>
            </a:pPr>
            <a:r>
              <a:rPr lang="en-US" sz="3748" spc="-191" dirty="0">
                <a:solidFill>
                  <a:srgbClr val="000000">
                    <a:alpha val="8078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Lack of Real-Time Intelligence: Most affordable portable ECG devices cannot simultaneously provide continuous monitoring and real-time anomaly detection</a:t>
            </a:r>
          </a:p>
          <a:p>
            <a:pPr algn="l">
              <a:lnSpc>
                <a:spcPts val="5135"/>
              </a:lnSpc>
            </a:pPr>
            <a:endParaRPr lang="en-US" sz="3748" spc="-191" dirty="0">
              <a:solidFill>
                <a:srgbClr val="000000">
                  <a:alpha val="80784"/>
                </a:srgb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11609797" y="-2575311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04996" y="1427935"/>
            <a:ext cx="3433604" cy="698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12"/>
              </a:lnSpc>
              <a:spcBef>
                <a:spcPct val="0"/>
              </a:spcBef>
            </a:pPr>
            <a:r>
              <a:rPr lang="en-US" sz="4151" b="1" spc="-211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796" y="526442"/>
            <a:ext cx="1602416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7500" b="1" spc="-382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Proposed Solution: IntelliWave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8796" y="1721404"/>
            <a:ext cx="17471038" cy="451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</a:pPr>
            <a:endParaRPr/>
          </a:p>
          <a:p>
            <a:pPr algn="l">
              <a:lnSpc>
                <a:spcPts val="5135"/>
              </a:lnSpc>
            </a:pPr>
            <a:r>
              <a:rPr lang="en-US" sz="3748" spc="-191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IntelliWave is an affordable, ultra-portable, battery-powered 3-lead wearable ECG monitoring system designed for continuous cardiac monitoring of high-risk patients. It combines long-term ECG recording with an embedded explainable AI module that detects waveform anomalies in real time, providing intelligent decision support to reduce clinicians' workload and enable earlier diagnosis and intervention.</a:t>
            </a:r>
          </a:p>
          <a:p>
            <a:pPr algn="l">
              <a:lnSpc>
                <a:spcPts val="5135"/>
              </a:lnSpc>
            </a:pPr>
            <a:endParaRPr lang="en-US" sz="3748" spc="-191">
              <a:solidFill>
                <a:srgbClr val="000000">
                  <a:alpha val="80784"/>
                </a:srgbClr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11609797" y="-2575311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98359" y="1097546"/>
            <a:ext cx="8691283" cy="90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4"/>
              </a:lnSpc>
            </a:pPr>
            <a:r>
              <a:rPr lang="en-US" sz="6800">
                <a:solidFill>
                  <a:srgbClr val="000000"/>
                </a:solidFill>
                <a:latin typeface="ITC Motter Corpus Condensed"/>
                <a:ea typeface="ITC Motter Corpus Condensed"/>
                <a:cs typeface="ITC Motter Corpus Condensed"/>
                <a:sym typeface="ITC Motter Corpus Condensed"/>
              </a:rPr>
              <a:t>Problem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50280" y="7141722"/>
            <a:ext cx="5245372" cy="132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Would you find it valuable to have a tool that digitize ECGs and provides AI-based diagnostics?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4862" y="7579872"/>
            <a:ext cx="269178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solutions for this challangers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307" y="1837674"/>
            <a:ext cx="5844667" cy="511602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599483" y="2866835"/>
            <a:ext cx="5713565" cy="472192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-390401" y="2610254"/>
            <a:ext cx="7840909" cy="5963042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01942" y="8438392"/>
            <a:ext cx="412254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What challenges do you face in interpreting ECGs?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7163" y="1684449"/>
            <a:ext cx="1143722" cy="1630674"/>
          </a:xfrm>
          <a:custGeom>
            <a:avLst/>
            <a:gdLst/>
            <a:ahLst/>
            <a:cxnLst/>
            <a:rect l="l" t="t" r="r" b="b"/>
            <a:pathLst>
              <a:path w="1143722" h="1630674">
                <a:moveTo>
                  <a:pt x="0" y="0"/>
                </a:moveTo>
                <a:lnTo>
                  <a:pt x="1143723" y="0"/>
                </a:lnTo>
                <a:lnTo>
                  <a:pt x="1143723" y="1630674"/>
                </a:lnTo>
                <a:lnTo>
                  <a:pt x="0" y="16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290276" y="1806967"/>
            <a:ext cx="1562442" cy="1385639"/>
          </a:xfrm>
          <a:custGeom>
            <a:avLst/>
            <a:gdLst/>
            <a:ahLst/>
            <a:cxnLst/>
            <a:rect l="l" t="t" r="r" b="b"/>
            <a:pathLst>
              <a:path w="1562442" h="1385639">
                <a:moveTo>
                  <a:pt x="0" y="0"/>
                </a:moveTo>
                <a:lnTo>
                  <a:pt x="1562442" y="0"/>
                </a:lnTo>
                <a:lnTo>
                  <a:pt x="1562442" y="1385639"/>
                </a:lnTo>
                <a:lnTo>
                  <a:pt x="0" y="1385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976977" y="1293974"/>
            <a:ext cx="963881" cy="2021149"/>
          </a:xfrm>
          <a:custGeom>
            <a:avLst/>
            <a:gdLst/>
            <a:ahLst/>
            <a:cxnLst/>
            <a:rect l="l" t="t" r="r" b="b"/>
            <a:pathLst>
              <a:path w="963881" h="2021149">
                <a:moveTo>
                  <a:pt x="0" y="0"/>
                </a:moveTo>
                <a:lnTo>
                  <a:pt x="963882" y="0"/>
                </a:lnTo>
                <a:lnTo>
                  <a:pt x="963882" y="2021149"/>
                </a:lnTo>
                <a:lnTo>
                  <a:pt x="0" y="2021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377488" y="6370002"/>
            <a:ext cx="1498924" cy="1498924"/>
          </a:xfrm>
          <a:custGeom>
            <a:avLst/>
            <a:gdLst/>
            <a:ahLst/>
            <a:cxnLst/>
            <a:rect l="l" t="t" r="r" b="b"/>
            <a:pathLst>
              <a:path w="1498924" h="1498924">
                <a:moveTo>
                  <a:pt x="0" y="0"/>
                </a:moveTo>
                <a:lnTo>
                  <a:pt x="1498924" y="0"/>
                </a:lnTo>
                <a:lnTo>
                  <a:pt x="1498924" y="1498924"/>
                </a:lnTo>
                <a:lnTo>
                  <a:pt x="0" y="1498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78460" y="568513"/>
            <a:ext cx="8966745" cy="10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4"/>
              </a:lnSpc>
            </a:pPr>
            <a:r>
              <a:rPr lang="en-US" sz="7667" b="1" spc="-391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4551" y="3850881"/>
            <a:ext cx="5224140" cy="19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1"/>
              </a:lnSpc>
            </a:pPr>
            <a:r>
              <a:rPr lang="en-US" sz="2800">
                <a:solidFill>
                  <a:srgbClr val="1C0140"/>
                </a:solidFill>
                <a:latin typeface="Montserrat"/>
                <a:ea typeface="Montserrat"/>
                <a:cs typeface="Montserrat"/>
                <a:sym typeface="Montserrat"/>
              </a:rPr>
              <a:t>Real-time ECG monitoring with continuous heart rhythm tracking and instant alerts for abnormal patterns.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63655" y="3841356"/>
            <a:ext cx="4653219" cy="149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18"/>
              </a:lnSpc>
            </a:pPr>
            <a:r>
              <a:rPr lang="en-US" sz="2870">
                <a:solidFill>
                  <a:srgbClr val="1C0140"/>
                </a:solidFill>
                <a:latin typeface="Montserrat"/>
                <a:ea typeface="Montserrat"/>
                <a:cs typeface="Montserrat"/>
                <a:sym typeface="Montserrat"/>
              </a:rPr>
              <a:t>Seamless wireless connectivity via Bluetooth to mobile.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3304" y="8291088"/>
            <a:ext cx="4445614" cy="94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</a:pPr>
            <a:r>
              <a:rPr lang="en-US" sz="2720">
                <a:solidFill>
                  <a:srgbClr val="1C0140"/>
                </a:solidFill>
                <a:latin typeface="Montserrat"/>
                <a:ea typeface="Montserrat"/>
                <a:cs typeface="Montserrat"/>
                <a:sym typeface="Montserrat"/>
              </a:rPr>
              <a:t>Ultra-compact and lightweight design.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96822" y="3445691"/>
            <a:ext cx="5888074" cy="189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</a:pPr>
            <a:r>
              <a:rPr lang="en-US" sz="2720">
                <a:solidFill>
                  <a:srgbClr val="1C0140"/>
                </a:solidFill>
                <a:latin typeface="Montserrat"/>
                <a:ea typeface="Montserrat"/>
                <a:cs typeface="Montserrat"/>
                <a:sym typeface="Montserrat"/>
              </a:rPr>
              <a:t>Extended battery life of up to 24 hours on a single charge ensures uninterrupted monitoring and peace of mind.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9025" y="8009867"/>
            <a:ext cx="4445614" cy="141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</a:pPr>
            <a:r>
              <a:rPr lang="en-US" sz="2720">
                <a:solidFill>
                  <a:srgbClr val="1C0140"/>
                </a:solidFill>
                <a:latin typeface="Montserrat"/>
                <a:ea typeface="Montserrat"/>
                <a:cs typeface="Montserrat"/>
                <a:sym typeface="Montserrat"/>
              </a:rPr>
              <a:t>We aim to keep the cost low while ensuring product quality.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122266" y="5697857"/>
            <a:ext cx="3622457" cy="2946223"/>
          </a:xfrm>
          <a:custGeom>
            <a:avLst/>
            <a:gdLst/>
            <a:ahLst/>
            <a:cxnLst/>
            <a:rect l="l" t="t" r="r" b="b"/>
            <a:pathLst>
              <a:path w="3622457" h="2946223">
                <a:moveTo>
                  <a:pt x="0" y="0"/>
                </a:moveTo>
                <a:lnTo>
                  <a:pt x="3622458" y="0"/>
                </a:lnTo>
                <a:lnTo>
                  <a:pt x="3622458" y="2946223"/>
                </a:lnTo>
                <a:lnTo>
                  <a:pt x="0" y="2946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695" y="579816"/>
            <a:ext cx="13392587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Product Specifications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2117410" y="-2846875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2"/>
                </a:lnTo>
                <a:lnTo>
                  <a:pt x="8869909" y="10401812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71914" y="1768180"/>
            <a:ext cx="3519085" cy="58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8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Physical Specs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3558" y="4498978"/>
            <a:ext cx="2932642" cy="58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8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Signal specs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3558" y="6969087"/>
            <a:ext cx="2932642" cy="58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8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Power specs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9555" y="1834855"/>
            <a:ext cx="6818801" cy="250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249" lvl="1" indent="-315625" algn="l">
              <a:lnSpc>
                <a:spcPts val="4005"/>
              </a:lnSpc>
              <a:buFont typeface="Arial"/>
              <a:buChar char="•"/>
            </a:pPr>
            <a:r>
              <a:rPr lang="en-US" sz="2923" spc="-149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Dimension : 75mm x 45mm x 26mm</a:t>
            </a:r>
          </a:p>
          <a:p>
            <a:pPr marL="631249" lvl="1" indent="-315625" algn="l">
              <a:lnSpc>
                <a:spcPts val="4005"/>
              </a:lnSpc>
              <a:buFont typeface="Arial"/>
              <a:buChar char="•"/>
            </a:pPr>
            <a:r>
              <a:rPr lang="en-US" sz="2923" spc="-149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Weight : 70g</a:t>
            </a:r>
          </a:p>
          <a:p>
            <a:pPr marL="631249" lvl="1" indent="-315625" algn="l">
              <a:lnSpc>
                <a:spcPts val="4005"/>
              </a:lnSpc>
              <a:buFont typeface="Arial"/>
              <a:buChar char="•"/>
            </a:pPr>
            <a:r>
              <a:rPr lang="en-US" sz="2923" spc="-149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Pocket friendly &amp; Wearable design.</a:t>
            </a:r>
          </a:p>
          <a:p>
            <a:pPr algn="l">
              <a:lnSpc>
                <a:spcPts val="4005"/>
              </a:lnSpc>
            </a:pPr>
            <a:endParaRPr lang="en-US" sz="2923" spc="-149">
              <a:solidFill>
                <a:srgbClr val="000000">
                  <a:alpha val="80784"/>
                </a:srgbClr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05"/>
              </a:lnSpc>
            </a:pPr>
            <a:endParaRPr lang="en-US" sz="2923" spc="-149">
              <a:solidFill>
                <a:srgbClr val="000000">
                  <a:alpha val="80784"/>
                </a:srgbClr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29555" y="4295765"/>
            <a:ext cx="10196521" cy="195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624" lvl="1" indent="-308312" algn="l">
              <a:lnSpc>
                <a:spcPts val="3912"/>
              </a:lnSpc>
              <a:buFont typeface="Arial"/>
              <a:buChar char="•"/>
            </a:pPr>
            <a:r>
              <a:rPr lang="en-US" sz="2856" spc="-145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Sample Rate : 250 SPS</a:t>
            </a:r>
          </a:p>
          <a:p>
            <a:pPr marL="616624" lvl="1" indent="-308312" algn="l">
              <a:lnSpc>
                <a:spcPts val="3912"/>
              </a:lnSpc>
              <a:buFont typeface="Arial"/>
              <a:buChar char="•"/>
            </a:pPr>
            <a:r>
              <a:rPr lang="en-US" sz="2856" spc="-145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Notch Filter :50Hz (power line rejection, software)</a:t>
            </a:r>
          </a:p>
          <a:p>
            <a:pPr marL="616624" lvl="1" indent="-308312" algn="l">
              <a:lnSpc>
                <a:spcPts val="3912"/>
              </a:lnSpc>
              <a:buFont typeface="Arial"/>
              <a:buChar char="•"/>
            </a:pPr>
            <a:r>
              <a:rPr lang="en-US" sz="2856" spc="-145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Baud Rate: 9600</a:t>
            </a:r>
          </a:p>
          <a:p>
            <a:pPr algn="l">
              <a:lnSpc>
                <a:spcPts val="3912"/>
              </a:lnSpc>
            </a:pPr>
            <a:endParaRPr lang="en-US" sz="2856" spc="-145">
              <a:solidFill>
                <a:srgbClr val="000000">
                  <a:alpha val="80784"/>
                </a:srgbClr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529555" y="7026237"/>
            <a:ext cx="10548318" cy="234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705" lvl="1" indent="-292852" algn="l">
              <a:lnSpc>
                <a:spcPts val="3716"/>
              </a:lnSpc>
              <a:buFont typeface="Arial"/>
              <a:buChar char="•"/>
            </a:pPr>
            <a:r>
              <a:rPr lang="en-US" sz="2712" spc="-138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Supply Voltage : 3.3V regulated</a:t>
            </a:r>
          </a:p>
          <a:p>
            <a:pPr marL="585705" lvl="1" indent="-292852" algn="l">
              <a:lnSpc>
                <a:spcPts val="3716"/>
              </a:lnSpc>
              <a:buFont typeface="Arial"/>
              <a:buChar char="•"/>
            </a:pPr>
            <a:r>
              <a:rPr lang="en-US" sz="2712" spc="-138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Rated current : Maximum 60mA, Typical 45mA.</a:t>
            </a:r>
          </a:p>
          <a:p>
            <a:pPr marL="585705" lvl="1" indent="-292852" algn="l">
              <a:lnSpc>
                <a:spcPts val="3716"/>
              </a:lnSpc>
              <a:buFont typeface="Arial"/>
              <a:buChar char="•"/>
            </a:pPr>
            <a:r>
              <a:rPr lang="en-US" sz="2712" spc="-138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USB input charging : 5V, 500mA</a:t>
            </a:r>
          </a:p>
          <a:p>
            <a:pPr marL="585705" lvl="1" indent="-292852" algn="l">
              <a:lnSpc>
                <a:spcPts val="3716"/>
              </a:lnSpc>
              <a:buFont typeface="Arial"/>
              <a:buChar char="•"/>
            </a:pPr>
            <a:r>
              <a:rPr lang="en-US" sz="2712" spc="-138">
                <a:solidFill>
                  <a:srgbClr val="000000">
                    <a:alpha val="8078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Battery : 3.7V 1200mAH LiPo Battery ( 24h Expected battery life)</a:t>
            </a:r>
          </a:p>
          <a:p>
            <a:pPr algn="l">
              <a:lnSpc>
                <a:spcPts val="3716"/>
              </a:lnSpc>
            </a:pPr>
            <a:endParaRPr lang="en-US" sz="2712" spc="-138">
              <a:solidFill>
                <a:srgbClr val="000000">
                  <a:alpha val="80784"/>
                </a:srgbClr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120254" y="-2448618"/>
            <a:ext cx="5908760" cy="5908760"/>
          </a:xfrm>
          <a:custGeom>
            <a:avLst/>
            <a:gdLst/>
            <a:ahLst/>
            <a:cxnLst/>
            <a:rect l="l" t="t" r="r" b="b"/>
            <a:pathLst>
              <a:path w="5908760" h="5908760">
                <a:moveTo>
                  <a:pt x="0" y="0"/>
                </a:moveTo>
                <a:lnTo>
                  <a:pt x="5908759" y="0"/>
                </a:lnTo>
                <a:lnTo>
                  <a:pt x="5908759" y="5908760"/>
                </a:lnTo>
                <a:lnTo>
                  <a:pt x="0" y="5908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517875" y="-2788203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2"/>
                </a:lnTo>
                <a:lnTo>
                  <a:pt x="8869909" y="10401812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58675" y="1132183"/>
            <a:ext cx="14149388" cy="758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Connetivity: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Bluetooth 4.0 (Low Energy)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Band : 2.4GHz ISM band.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Upto 10m in open space.</a:t>
            </a: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Indicators &amp; UI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Power status (Green)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BLE connection status (Blue)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 application: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Platform : Android/IoS compatible software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: Real time ECG waveform (Lead I, II, III)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Heart Rate : Real time BPM display, Anomaly Notification.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Recording : Manual trigger / auto 30 second recording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Capability to send ECG reports to doctor, save ECG reports in PDF format.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139918" y="670900"/>
            <a:ext cx="6896411" cy="4472600"/>
          </a:xfrm>
          <a:custGeom>
            <a:avLst/>
            <a:gdLst/>
            <a:ahLst/>
            <a:cxnLst/>
            <a:rect l="l" t="t" r="r" b="b"/>
            <a:pathLst>
              <a:path w="6896411" h="4472600">
                <a:moveTo>
                  <a:pt x="0" y="0"/>
                </a:moveTo>
                <a:lnTo>
                  <a:pt x="6896410" y="0"/>
                </a:lnTo>
                <a:lnTo>
                  <a:pt x="6896410" y="4472600"/>
                </a:lnTo>
                <a:lnTo>
                  <a:pt x="0" y="4472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518" t="-46501" r="-16947" b="-690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307" y="2559422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5"/>
                </a:lnTo>
                <a:lnTo>
                  <a:pt x="0" y="1944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04900" y="534951"/>
            <a:ext cx="9639300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 b="1" spc="-382" dirty="0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System Architecture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13881274" y="5929684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5"/>
                </a:lnTo>
                <a:lnTo>
                  <a:pt x="0" y="1944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979749" y="2559422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5"/>
                </a:lnTo>
                <a:lnTo>
                  <a:pt x="0" y="1944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432051" y="2559422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5"/>
                </a:lnTo>
                <a:lnTo>
                  <a:pt x="0" y="1944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881274" y="2559422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5"/>
                </a:lnTo>
                <a:lnTo>
                  <a:pt x="0" y="1944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432051" y="5965414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6"/>
                </a:lnTo>
                <a:lnTo>
                  <a:pt x="0" y="1944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979749" y="5965414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6"/>
                </a:lnTo>
                <a:lnTo>
                  <a:pt x="0" y="1944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6307" y="5965414"/>
            <a:ext cx="3518852" cy="1944965"/>
          </a:xfrm>
          <a:custGeom>
            <a:avLst/>
            <a:gdLst/>
            <a:ahLst/>
            <a:cxnLst/>
            <a:rect l="l" t="t" r="r" b="b"/>
            <a:pathLst>
              <a:path w="3518852" h="1944965">
                <a:moveTo>
                  <a:pt x="0" y="0"/>
                </a:moveTo>
                <a:lnTo>
                  <a:pt x="3518852" y="0"/>
                </a:lnTo>
                <a:lnTo>
                  <a:pt x="3518852" y="1944966"/>
                </a:lnTo>
                <a:lnTo>
                  <a:pt x="0" y="1944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26307" y="3182819"/>
            <a:ext cx="3518852" cy="601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spc="-168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ECG Electrodes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41649" y="2971682"/>
            <a:ext cx="3518852" cy="109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-153">
                <a:solidFill>
                  <a:srgbClr val="FEFEFE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Analog Front-end (AD8232)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7173" y="2945647"/>
            <a:ext cx="3148608" cy="96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spc="-137">
                <a:solidFill>
                  <a:srgbClr val="1C014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MCU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spc="-137">
                <a:solidFill>
                  <a:srgbClr val="1C014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(STM32F103C8T6)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84483" y="2981207"/>
            <a:ext cx="4112435" cy="1014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-142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Bluetooth Module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spc="-142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(HM-10)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40448" y="6339093"/>
            <a:ext cx="3518852" cy="1102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 spc="-158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Mobile 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spc="-158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Application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051" y="6303363"/>
            <a:ext cx="3518852" cy="1102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spc="-158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Multi Level Calasification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51060" y="6459883"/>
            <a:ext cx="3100030" cy="51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spc="-142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Anomaly Detection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6307" y="6213502"/>
            <a:ext cx="3518852" cy="144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spc="-137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Displaying Real Time Anomaly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spc="-137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Notification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135103" y="3076457"/>
            <a:ext cx="844646" cy="1166386"/>
            <a:chOff x="0" y="0"/>
            <a:chExt cx="891543" cy="12311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12998528" y="6318973"/>
            <a:ext cx="844646" cy="1166386"/>
            <a:chOff x="0" y="0"/>
            <a:chExt cx="891543" cy="12311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10800000">
            <a:off x="8543003" y="6354704"/>
            <a:ext cx="844646" cy="1166386"/>
            <a:chOff x="0" y="0"/>
            <a:chExt cx="891543" cy="12311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4097003" y="6396117"/>
            <a:ext cx="844646" cy="1166386"/>
            <a:chOff x="0" y="0"/>
            <a:chExt cx="891543" cy="123114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993766" y="3076457"/>
            <a:ext cx="844646" cy="1166386"/>
            <a:chOff x="0" y="0"/>
            <a:chExt cx="891543" cy="12311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84326" y="3031372"/>
            <a:ext cx="844646" cy="1166386"/>
            <a:chOff x="0" y="0"/>
            <a:chExt cx="891543" cy="12311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91543" cy="1231147"/>
            </a:xfrm>
            <a:custGeom>
              <a:avLst/>
              <a:gdLst/>
              <a:ahLst/>
              <a:cxnLst/>
              <a:rect l="l" t="t" r="r" b="b"/>
              <a:pathLst>
                <a:path w="891543" h="1231147">
                  <a:moveTo>
                    <a:pt x="891543" y="615574"/>
                  </a:moveTo>
                  <a:lnTo>
                    <a:pt x="485143" y="0"/>
                  </a:lnTo>
                  <a:lnTo>
                    <a:pt x="485143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485143" y="1027947"/>
                  </a:lnTo>
                  <a:lnTo>
                    <a:pt x="485143" y="1231147"/>
                  </a:lnTo>
                  <a:lnTo>
                    <a:pt x="891543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65100"/>
              <a:ext cx="789943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4933449" y="4640342"/>
            <a:ext cx="1036034" cy="1166386"/>
            <a:chOff x="0" y="0"/>
            <a:chExt cx="1093557" cy="123114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3557" cy="1231147"/>
            </a:xfrm>
            <a:custGeom>
              <a:avLst/>
              <a:gdLst/>
              <a:ahLst/>
              <a:cxnLst/>
              <a:rect l="l" t="t" r="r" b="b"/>
              <a:pathLst>
                <a:path w="1093557" h="1231147">
                  <a:moveTo>
                    <a:pt x="1093557" y="615574"/>
                  </a:moveTo>
                  <a:lnTo>
                    <a:pt x="687157" y="0"/>
                  </a:lnTo>
                  <a:lnTo>
                    <a:pt x="687157" y="203200"/>
                  </a:lnTo>
                  <a:lnTo>
                    <a:pt x="0" y="203200"/>
                  </a:lnTo>
                  <a:lnTo>
                    <a:pt x="0" y="1027947"/>
                  </a:lnTo>
                  <a:lnTo>
                    <a:pt x="687157" y="1027947"/>
                  </a:lnTo>
                  <a:lnTo>
                    <a:pt x="687157" y="1231147"/>
                  </a:lnTo>
                  <a:lnTo>
                    <a:pt x="1093557" y="61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165100"/>
              <a:ext cx="991957" cy="86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311" y="2366961"/>
            <a:ext cx="7823033" cy="5186784"/>
            <a:chOff x="0" y="0"/>
            <a:chExt cx="2242028" cy="14864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028" cy="1486497"/>
            </a:xfrm>
            <a:custGeom>
              <a:avLst/>
              <a:gdLst/>
              <a:ahLst/>
              <a:cxnLst/>
              <a:rect l="l" t="t" r="r" b="b"/>
              <a:pathLst>
                <a:path w="2242028" h="1486497">
                  <a:moveTo>
                    <a:pt x="22762" y="0"/>
                  </a:moveTo>
                  <a:lnTo>
                    <a:pt x="2219267" y="0"/>
                  </a:lnTo>
                  <a:cubicBezTo>
                    <a:pt x="2225304" y="0"/>
                    <a:pt x="2231093" y="2398"/>
                    <a:pt x="2235362" y="6667"/>
                  </a:cubicBezTo>
                  <a:cubicBezTo>
                    <a:pt x="2239630" y="10935"/>
                    <a:pt x="2242028" y="16725"/>
                    <a:pt x="2242028" y="22762"/>
                  </a:cubicBezTo>
                  <a:lnTo>
                    <a:pt x="2242028" y="1463736"/>
                  </a:lnTo>
                  <a:cubicBezTo>
                    <a:pt x="2242028" y="1469772"/>
                    <a:pt x="2239630" y="1475562"/>
                    <a:pt x="2235362" y="1479831"/>
                  </a:cubicBezTo>
                  <a:cubicBezTo>
                    <a:pt x="2231093" y="1484099"/>
                    <a:pt x="2225304" y="1486497"/>
                    <a:pt x="2219267" y="1486497"/>
                  </a:cubicBezTo>
                  <a:lnTo>
                    <a:pt x="22762" y="1486497"/>
                  </a:lnTo>
                  <a:cubicBezTo>
                    <a:pt x="16725" y="1486497"/>
                    <a:pt x="10935" y="1484099"/>
                    <a:pt x="6667" y="1479831"/>
                  </a:cubicBezTo>
                  <a:cubicBezTo>
                    <a:pt x="2398" y="1475562"/>
                    <a:pt x="0" y="1469772"/>
                    <a:pt x="0" y="1463736"/>
                  </a:cubicBezTo>
                  <a:lnTo>
                    <a:pt x="0" y="22762"/>
                  </a:lnTo>
                  <a:cubicBezTo>
                    <a:pt x="0" y="16725"/>
                    <a:pt x="2398" y="10935"/>
                    <a:pt x="6667" y="6667"/>
                  </a:cubicBezTo>
                  <a:cubicBezTo>
                    <a:pt x="10935" y="2398"/>
                    <a:pt x="16725" y="0"/>
                    <a:pt x="22762" y="0"/>
                  </a:cubicBezTo>
                  <a:close/>
                </a:path>
              </a:pathLst>
            </a:custGeom>
            <a:blipFill>
              <a:blip r:embed="rId2"/>
              <a:stretch>
                <a:fillRect l="-5084" r="-50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8948531" y="2452884"/>
            <a:ext cx="8310769" cy="5014938"/>
          </a:xfrm>
          <a:custGeom>
            <a:avLst/>
            <a:gdLst/>
            <a:ahLst/>
            <a:cxnLst/>
            <a:rect l="l" t="t" r="r" b="b"/>
            <a:pathLst>
              <a:path w="8310769" h="5014938">
                <a:moveTo>
                  <a:pt x="0" y="0"/>
                </a:moveTo>
                <a:lnTo>
                  <a:pt x="8310769" y="0"/>
                </a:lnTo>
                <a:lnTo>
                  <a:pt x="8310769" y="5014937"/>
                </a:lnTo>
                <a:lnTo>
                  <a:pt x="0" y="5014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54537" y="579816"/>
            <a:ext cx="10118761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PCB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7792" y="1601409"/>
            <a:ext cx="9473878" cy="4086372"/>
          </a:xfrm>
          <a:custGeom>
            <a:avLst/>
            <a:gdLst/>
            <a:ahLst/>
            <a:cxnLst/>
            <a:rect l="l" t="t" r="r" b="b"/>
            <a:pathLst>
              <a:path w="9473878" h="4086372">
                <a:moveTo>
                  <a:pt x="0" y="0"/>
                </a:moveTo>
                <a:lnTo>
                  <a:pt x="9473878" y="0"/>
                </a:lnTo>
                <a:lnTo>
                  <a:pt x="9473878" y="4086373"/>
                </a:lnTo>
                <a:lnTo>
                  <a:pt x="0" y="4086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977151" y="5957608"/>
            <a:ext cx="9364519" cy="3922693"/>
          </a:xfrm>
          <a:custGeom>
            <a:avLst/>
            <a:gdLst/>
            <a:ahLst/>
            <a:cxnLst/>
            <a:rect l="l" t="t" r="r" b="b"/>
            <a:pathLst>
              <a:path w="9364519" h="3922693">
                <a:moveTo>
                  <a:pt x="0" y="0"/>
                </a:moveTo>
                <a:lnTo>
                  <a:pt x="9364519" y="0"/>
                </a:lnTo>
                <a:lnTo>
                  <a:pt x="9364519" y="3922693"/>
                </a:lnTo>
                <a:lnTo>
                  <a:pt x="0" y="3922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15422" y="579816"/>
            <a:ext cx="10118761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PCB Design - 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389391" y="4111606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2"/>
                </a:lnTo>
                <a:lnTo>
                  <a:pt x="8869909" y="10401812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329706" y="1599891"/>
            <a:ext cx="11628588" cy="8313162"/>
          </a:xfrm>
          <a:custGeom>
            <a:avLst/>
            <a:gdLst/>
            <a:ahLst/>
            <a:cxnLst/>
            <a:rect l="l" t="t" r="r" b="b"/>
            <a:pathLst>
              <a:path w="11628588" h="8313162">
                <a:moveTo>
                  <a:pt x="0" y="0"/>
                </a:moveTo>
                <a:lnTo>
                  <a:pt x="11628588" y="0"/>
                </a:lnTo>
                <a:lnTo>
                  <a:pt x="11628588" y="8313162"/>
                </a:lnTo>
                <a:lnTo>
                  <a:pt x="0" y="8313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37312" y="721838"/>
            <a:ext cx="10118761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Final Enclosure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079655" y="1927804"/>
            <a:ext cx="12236545" cy="764784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8460" y="570291"/>
            <a:ext cx="12270971" cy="99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8"/>
              </a:lnSpc>
            </a:pPr>
            <a:r>
              <a:rPr lang="en-US" sz="7324" b="1" spc="-373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AI &amp; Mobile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447156" y="-2094423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3591" y="2264027"/>
            <a:ext cx="8266852" cy="3935143"/>
          </a:xfrm>
          <a:custGeom>
            <a:avLst/>
            <a:gdLst/>
            <a:ahLst/>
            <a:cxnLst/>
            <a:rect l="l" t="t" r="r" b="b"/>
            <a:pathLst>
              <a:path w="8266852" h="3935143">
                <a:moveTo>
                  <a:pt x="0" y="0"/>
                </a:moveTo>
                <a:lnTo>
                  <a:pt x="8266851" y="0"/>
                </a:lnTo>
                <a:lnTo>
                  <a:pt x="8266851" y="3935144"/>
                </a:lnTo>
                <a:lnTo>
                  <a:pt x="0" y="393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327154" y="2264027"/>
            <a:ext cx="8198113" cy="3894103"/>
          </a:xfrm>
          <a:custGeom>
            <a:avLst/>
            <a:gdLst/>
            <a:ahLst/>
            <a:cxnLst/>
            <a:rect l="l" t="t" r="r" b="b"/>
            <a:pathLst>
              <a:path w="8198113" h="3894103">
                <a:moveTo>
                  <a:pt x="0" y="0"/>
                </a:moveTo>
                <a:lnTo>
                  <a:pt x="8198113" y="0"/>
                </a:lnTo>
                <a:lnTo>
                  <a:pt x="8198113" y="3894104"/>
                </a:lnTo>
                <a:lnTo>
                  <a:pt x="0" y="389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981197" y="6642121"/>
            <a:ext cx="8091821" cy="3397818"/>
          </a:xfrm>
          <a:custGeom>
            <a:avLst/>
            <a:gdLst/>
            <a:ahLst/>
            <a:cxnLst/>
            <a:rect l="l" t="t" r="r" b="b"/>
            <a:pathLst>
              <a:path w="8091821" h="3397818">
                <a:moveTo>
                  <a:pt x="0" y="0"/>
                </a:moveTo>
                <a:lnTo>
                  <a:pt x="8091821" y="0"/>
                </a:lnTo>
                <a:lnTo>
                  <a:pt x="8091821" y="3397818"/>
                </a:lnTo>
                <a:lnTo>
                  <a:pt x="0" y="3397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0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40054" y="434821"/>
            <a:ext cx="15740777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Similar Products in the Market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7573" y="1738310"/>
            <a:ext cx="14829079" cy="8088589"/>
          </a:xfrm>
          <a:custGeom>
            <a:avLst/>
            <a:gdLst/>
            <a:ahLst/>
            <a:cxnLst/>
            <a:rect l="l" t="t" r="r" b="b"/>
            <a:pathLst>
              <a:path w="14829079" h="8088589">
                <a:moveTo>
                  <a:pt x="0" y="0"/>
                </a:moveTo>
                <a:lnTo>
                  <a:pt x="14829080" y="0"/>
                </a:lnTo>
                <a:lnTo>
                  <a:pt x="14829080" y="8088589"/>
                </a:lnTo>
                <a:lnTo>
                  <a:pt x="0" y="8088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716716"/>
            <a:ext cx="15946826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CNN Multi lable Classification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985" y="2717220"/>
            <a:ext cx="4694090" cy="5739232"/>
          </a:xfrm>
          <a:custGeom>
            <a:avLst/>
            <a:gdLst/>
            <a:ahLst/>
            <a:cxnLst/>
            <a:rect l="l" t="t" r="r" b="b"/>
            <a:pathLst>
              <a:path w="4694090" h="5739232">
                <a:moveTo>
                  <a:pt x="0" y="0"/>
                </a:moveTo>
                <a:lnTo>
                  <a:pt x="4694090" y="0"/>
                </a:lnTo>
                <a:lnTo>
                  <a:pt x="4694090" y="5739232"/>
                </a:lnTo>
                <a:lnTo>
                  <a:pt x="0" y="5739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4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5922983" y="3432142"/>
            <a:ext cx="5739232" cy="4309388"/>
          </a:xfrm>
          <a:custGeom>
            <a:avLst/>
            <a:gdLst/>
            <a:ahLst/>
            <a:cxnLst/>
            <a:rect l="l" t="t" r="r" b="b"/>
            <a:pathLst>
              <a:path w="5739232" h="4309388">
                <a:moveTo>
                  <a:pt x="0" y="0"/>
                </a:moveTo>
                <a:lnTo>
                  <a:pt x="5739232" y="0"/>
                </a:lnTo>
                <a:lnTo>
                  <a:pt x="5739232" y="4309389"/>
                </a:lnTo>
                <a:lnTo>
                  <a:pt x="0" y="4309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66393" y="2717220"/>
            <a:ext cx="4604115" cy="5695314"/>
          </a:xfrm>
          <a:custGeom>
            <a:avLst/>
            <a:gdLst/>
            <a:ahLst/>
            <a:cxnLst/>
            <a:rect l="l" t="t" r="r" b="b"/>
            <a:pathLst>
              <a:path w="4604115" h="5695314">
                <a:moveTo>
                  <a:pt x="0" y="0"/>
                </a:moveTo>
                <a:lnTo>
                  <a:pt x="4604115" y="0"/>
                </a:lnTo>
                <a:lnTo>
                  <a:pt x="4604115" y="5695314"/>
                </a:lnTo>
                <a:lnTo>
                  <a:pt x="0" y="569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621" t="-27342" r="-27058" b="-391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55184" y="1001982"/>
            <a:ext cx="6235946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Final product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43288" y="2184147"/>
            <a:ext cx="12218648" cy="6684256"/>
          </a:xfrm>
          <a:custGeom>
            <a:avLst/>
            <a:gdLst/>
            <a:ahLst/>
            <a:cxnLst/>
            <a:rect l="l" t="t" r="r" b="b"/>
            <a:pathLst>
              <a:path w="12218648" h="6684256">
                <a:moveTo>
                  <a:pt x="0" y="0"/>
                </a:moveTo>
                <a:lnTo>
                  <a:pt x="12218648" y="0"/>
                </a:lnTo>
                <a:lnTo>
                  <a:pt x="12218648" y="6684257"/>
                </a:lnTo>
                <a:lnTo>
                  <a:pt x="0" y="6684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4537" y="579816"/>
            <a:ext cx="16147476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Mobile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447156" y="-2094423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39822" y="3106484"/>
            <a:ext cx="12808356" cy="3511969"/>
          </a:xfrm>
          <a:custGeom>
            <a:avLst/>
            <a:gdLst/>
            <a:ahLst/>
            <a:cxnLst/>
            <a:rect l="l" t="t" r="r" b="b"/>
            <a:pathLst>
              <a:path w="12808356" h="3511969">
                <a:moveTo>
                  <a:pt x="0" y="0"/>
                </a:moveTo>
                <a:lnTo>
                  <a:pt x="12808356" y="0"/>
                </a:lnTo>
                <a:lnTo>
                  <a:pt x="12808356" y="3511968"/>
                </a:lnTo>
                <a:lnTo>
                  <a:pt x="0" y="3511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83595" y="961137"/>
            <a:ext cx="16075705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Cost Distribution - For the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447156" y="-2094423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40054" y="434821"/>
            <a:ext cx="15740777" cy="189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Volume Production Costing and Retail Price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42856" y="7099345"/>
            <a:ext cx="12202288" cy="8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5"/>
              </a:lnSpc>
            </a:pPr>
            <a:r>
              <a:rPr lang="en-US" sz="7005" spc="-357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Target Selling price  : 30 000 LKR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0E4FD-6E22-5D44-266D-B1A292D68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87" y="3235708"/>
            <a:ext cx="1306830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935365" y="-1985076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3"/>
                </a:lnTo>
                <a:lnTo>
                  <a:pt x="8869909" y="10401813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517274" y="-1985076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0" y="0"/>
                </a:moveTo>
                <a:lnTo>
                  <a:pt x="8869909" y="0"/>
                </a:lnTo>
                <a:lnTo>
                  <a:pt x="8869909" y="10401813"/>
                </a:lnTo>
                <a:lnTo>
                  <a:pt x="0" y="10401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98559" y="3206305"/>
            <a:ext cx="14802745" cy="4657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378" lvl="1" indent="-319189" algn="l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B2C market : As a personal health check equipment.(For cardiac patients with high risk, personal health enthusiasts)</a:t>
            </a:r>
          </a:p>
          <a:p>
            <a:pPr marL="638378" lvl="1" indent="-319189" algn="l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B2B market : For hospitals to monitor patients continously outside home.(Where it need to monitor ECG for longer time (ex: 24h ECG)Expected Sales:</a:t>
            </a:r>
          </a:p>
          <a:p>
            <a:pPr marL="638378" lvl="1" indent="-319189" algn="l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Hardware sales (one time payment)</a:t>
            </a:r>
          </a:p>
          <a:p>
            <a:pPr marL="638378" lvl="1" indent="-319189" algn="l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SaaS model for Mobile application (Premium features ex: cloud storage)</a:t>
            </a:r>
          </a:p>
          <a:p>
            <a:pPr marL="638378" lvl="1" indent="-319189" algn="l">
              <a:lnSpc>
                <a:spcPts val="3696"/>
              </a:lnSpc>
              <a:spcBef>
                <a:spcPct val="0"/>
              </a:spcBef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Body Text"/>
                <a:ea typeface="Body Text"/>
                <a:cs typeface="Body Text"/>
                <a:sym typeface="Body Text"/>
              </a:rPr>
              <a:t>Subscription plan for hospitals.(As cloud storage charge)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endParaRPr lang="en-US" sz="2956">
              <a:solidFill>
                <a:srgbClr val="000000"/>
              </a:solidFill>
              <a:latin typeface="Body Text"/>
              <a:ea typeface="Body Text"/>
              <a:cs typeface="Body Text"/>
              <a:sym typeface="Body Text"/>
            </a:endParaRPr>
          </a:p>
          <a:p>
            <a:pPr algn="l">
              <a:lnSpc>
                <a:spcPts val="3696"/>
              </a:lnSpc>
              <a:spcBef>
                <a:spcPct val="0"/>
              </a:spcBef>
            </a:pPr>
            <a:endParaRPr lang="en-US" sz="2956">
              <a:solidFill>
                <a:srgbClr val="000000"/>
              </a:solidFill>
              <a:latin typeface="Body Text"/>
              <a:ea typeface="Body Text"/>
              <a:cs typeface="Body Text"/>
              <a:sym typeface="Body Text"/>
            </a:endParaRPr>
          </a:p>
          <a:p>
            <a:pPr algn="l">
              <a:lnSpc>
                <a:spcPts val="3696"/>
              </a:lnSpc>
              <a:spcBef>
                <a:spcPct val="0"/>
              </a:spcBef>
            </a:pPr>
            <a:endParaRPr lang="en-US" sz="2956">
              <a:solidFill>
                <a:srgbClr val="000000"/>
              </a:solidFill>
              <a:latin typeface="Body Text"/>
              <a:ea typeface="Body Text"/>
              <a:cs typeface="Body Text"/>
              <a:sym typeface="Body Tex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98559" y="1354012"/>
            <a:ext cx="15740777" cy="102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568" b="1" spc="-385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Business Model for the Product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5F9C3">
                <a:alpha val="100000"/>
              </a:srgbClr>
            </a:gs>
            <a:gs pos="100000">
              <a:srgbClr val="0F68A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8700" y="2696010"/>
            <a:ext cx="8869909" cy="10401813"/>
          </a:xfrm>
          <a:custGeom>
            <a:avLst/>
            <a:gdLst/>
            <a:ahLst/>
            <a:cxnLst/>
            <a:rect l="l" t="t" r="r" b="b"/>
            <a:pathLst>
              <a:path w="8869909" h="10401813">
                <a:moveTo>
                  <a:pt x="8869909" y="0"/>
                </a:moveTo>
                <a:lnTo>
                  <a:pt x="0" y="0"/>
                </a:lnTo>
                <a:lnTo>
                  <a:pt x="0" y="10401812"/>
                </a:lnTo>
                <a:lnTo>
                  <a:pt x="8869909" y="10401812"/>
                </a:lnTo>
                <a:lnTo>
                  <a:pt x="8869909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07117" y="1843851"/>
            <a:ext cx="8273767" cy="7115440"/>
          </a:xfrm>
          <a:custGeom>
            <a:avLst/>
            <a:gdLst/>
            <a:ahLst/>
            <a:cxnLst/>
            <a:rect l="l" t="t" r="r" b="b"/>
            <a:pathLst>
              <a:path w="8273767" h="7115440">
                <a:moveTo>
                  <a:pt x="0" y="0"/>
                </a:moveTo>
                <a:lnTo>
                  <a:pt x="8273766" y="0"/>
                </a:lnTo>
                <a:lnTo>
                  <a:pt x="8273766" y="7115440"/>
                </a:lnTo>
                <a:lnTo>
                  <a:pt x="0" y="7115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52293" y="3885396"/>
            <a:ext cx="11840871" cy="256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7152">
                <a:solidFill>
                  <a:srgbClr val="FFFFFF"/>
                </a:solidFill>
                <a:latin typeface="ITC Motter Corpus Condensed"/>
                <a:ea typeface="ITC Motter Corpus Condensed"/>
                <a:cs typeface="ITC Motter Corpus Condensed"/>
                <a:sym typeface="ITC Motter Corpus Condense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2480504" y="3062156"/>
            <a:ext cx="1197993" cy="1185553"/>
          </a:xfrm>
          <a:custGeom>
            <a:avLst/>
            <a:gdLst/>
            <a:ahLst/>
            <a:cxnLst/>
            <a:rect l="l" t="t" r="r" b="b"/>
            <a:pathLst>
              <a:path w="1197993" h="1185553">
                <a:moveTo>
                  <a:pt x="0" y="0"/>
                </a:moveTo>
                <a:lnTo>
                  <a:pt x="1197993" y="0"/>
                </a:lnTo>
                <a:lnTo>
                  <a:pt x="1197993" y="1185553"/>
                </a:lnTo>
                <a:lnTo>
                  <a:pt x="0" y="1185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609503" y="5143500"/>
            <a:ext cx="1197993" cy="1185553"/>
          </a:xfrm>
          <a:custGeom>
            <a:avLst/>
            <a:gdLst/>
            <a:ahLst/>
            <a:cxnLst/>
            <a:rect l="l" t="t" r="r" b="b"/>
            <a:pathLst>
              <a:path w="1197993" h="1185553">
                <a:moveTo>
                  <a:pt x="0" y="0"/>
                </a:moveTo>
                <a:lnTo>
                  <a:pt x="1197993" y="0"/>
                </a:lnTo>
                <a:lnTo>
                  <a:pt x="1197993" y="1185553"/>
                </a:lnTo>
                <a:lnTo>
                  <a:pt x="0" y="1185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4013073" y="1971486"/>
            <a:ext cx="4577301" cy="2459178"/>
          </a:xfrm>
          <a:custGeom>
            <a:avLst/>
            <a:gdLst/>
            <a:ahLst/>
            <a:cxnLst/>
            <a:rect l="l" t="t" r="r" b="b"/>
            <a:pathLst>
              <a:path w="4577301" h="2459178">
                <a:moveTo>
                  <a:pt x="4577301" y="0"/>
                </a:moveTo>
                <a:lnTo>
                  <a:pt x="0" y="0"/>
                </a:lnTo>
                <a:lnTo>
                  <a:pt x="0" y="2459178"/>
                </a:lnTo>
                <a:lnTo>
                  <a:pt x="4577301" y="2459178"/>
                </a:lnTo>
                <a:lnTo>
                  <a:pt x="45773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202402" y="5143500"/>
            <a:ext cx="4577301" cy="2459178"/>
          </a:xfrm>
          <a:custGeom>
            <a:avLst/>
            <a:gdLst/>
            <a:ahLst/>
            <a:cxnLst/>
            <a:rect l="l" t="t" r="r" b="b"/>
            <a:pathLst>
              <a:path w="4577301" h="2459178">
                <a:moveTo>
                  <a:pt x="0" y="0"/>
                </a:moveTo>
                <a:lnTo>
                  <a:pt x="4577302" y="0"/>
                </a:lnTo>
                <a:lnTo>
                  <a:pt x="4577302" y="2459178"/>
                </a:lnTo>
                <a:lnTo>
                  <a:pt x="0" y="2459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610</Words>
  <Application>Microsoft Office PowerPoint</Application>
  <PresentationFormat>Custom</PresentationFormat>
  <Paragraphs>87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Montserrat</vt:lpstr>
      <vt:lpstr>Alice Bold</vt:lpstr>
      <vt:lpstr>Canva Sans</vt:lpstr>
      <vt:lpstr>Canva Sans Bold</vt:lpstr>
      <vt:lpstr>Arial</vt:lpstr>
      <vt:lpstr>ITC Motter Corpus Condensed</vt:lpstr>
      <vt:lpstr>DM Sans</vt:lpstr>
      <vt:lpstr>Body Text</vt:lpstr>
      <vt:lpstr>Calibri</vt:lpstr>
      <vt:lpstr>Telegraf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IntelliWave_Final_Presentation</dc:title>
  <cp:lastModifiedBy>Tharusha Nimesh</cp:lastModifiedBy>
  <cp:revision>3</cp:revision>
  <dcterms:created xsi:type="dcterms:W3CDTF">2006-08-16T00:00:00Z</dcterms:created>
  <dcterms:modified xsi:type="dcterms:W3CDTF">2026-07-20T11:14:11Z</dcterms:modified>
  <dc:identifier>DAHP1J0El7I</dc:identifier>
</cp:coreProperties>
</file>